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4185900" cy="20104100"/>
  <p:notesSz cx="14185900" cy="201041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33"/>
    <a:srgbClr val="CF7551"/>
    <a:srgbClr val="2C3E43"/>
    <a:srgbClr val="A9B7B7"/>
    <a:srgbClr val="788A8A"/>
    <a:srgbClr val="EAE3D2"/>
    <a:srgbClr val="CB6B45"/>
    <a:srgbClr val="C86239"/>
    <a:srgbClr val="D2C4B4"/>
    <a:srgbClr val="F9F6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731" autoAdjust="0"/>
  </p:normalViewPr>
  <p:slideViewPr>
    <p:cSldViewPr>
      <p:cViewPr>
        <p:scale>
          <a:sx n="150" d="100"/>
          <a:sy n="150" d="100"/>
        </p:scale>
        <p:origin x="-210" y="-143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146800" cy="10080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8035925" y="0"/>
            <a:ext cx="6146800" cy="10080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B78870-6877-4019-A26E-C28B798BA5AA}" type="datetimeFigureOut">
              <a:rPr lang="zh-TW" altLang="en-US" smtClean="0"/>
              <a:t>2026/5/27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699000" y="2513013"/>
            <a:ext cx="4787900" cy="6784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1419225" y="9675813"/>
            <a:ext cx="11347450" cy="79152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19096038"/>
            <a:ext cx="6146800" cy="10080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8035925" y="19096038"/>
            <a:ext cx="6146800" cy="10080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788B15-FBE7-4961-8FC3-C6B5DAB1EF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02322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788B15-FBE7-4961-8FC3-C6B5DAB1EFDA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140520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64418" y="6232271"/>
            <a:ext cx="12063413" cy="42218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900" b="1" i="0">
                <a:solidFill>
                  <a:srgbClr val="E3DEC2"/>
                </a:solidFill>
                <a:latin typeface="Yu Gothic"/>
                <a:cs typeface="Yu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28837" y="11258296"/>
            <a:ext cx="9934575" cy="5026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gradFill>
          <a:gsLst>
            <a:gs pos="0">
              <a:srgbClr val="86A6B0"/>
            </a:gs>
            <a:gs pos="40000">
              <a:schemeClr val="bg2">
                <a:tint val="45000"/>
                <a:shade val="99000"/>
                <a:satMod val="350000"/>
              </a:schemeClr>
            </a:gs>
            <a:gs pos="100000">
              <a:schemeClr val="bg2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900" b="1" i="0">
                <a:solidFill>
                  <a:srgbClr val="E3DEC2"/>
                </a:solidFill>
                <a:latin typeface="Yu Gothic"/>
                <a:cs typeface="Yu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900" b="1" i="0">
                <a:solidFill>
                  <a:srgbClr val="E3DEC2"/>
                </a:solidFill>
                <a:latin typeface="Yu Gothic"/>
                <a:cs typeface="Yu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09612" y="4623943"/>
            <a:ext cx="6173629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309008" y="4623943"/>
            <a:ext cx="6173629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900" b="1" i="0">
                <a:solidFill>
                  <a:srgbClr val="E3DEC2"/>
                </a:solidFill>
                <a:latin typeface="Yu Gothic"/>
                <a:cs typeface="Yu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-8698" y="0"/>
            <a:ext cx="14191615" cy="20104100"/>
          </a:xfrm>
          <a:custGeom>
            <a:avLst/>
            <a:gdLst/>
            <a:ahLst/>
            <a:cxnLst/>
            <a:rect l="l" t="t" r="r" b="b"/>
            <a:pathLst>
              <a:path w="14191615" h="20104100">
                <a:moveTo>
                  <a:pt x="14191130" y="20104101"/>
                </a:moveTo>
                <a:lnTo>
                  <a:pt x="0" y="20104101"/>
                </a:lnTo>
                <a:lnTo>
                  <a:pt x="0" y="0"/>
                </a:lnTo>
                <a:lnTo>
                  <a:pt x="14191130" y="0"/>
                </a:lnTo>
                <a:lnTo>
                  <a:pt x="14191130" y="20104101"/>
                </a:lnTo>
                <a:close/>
              </a:path>
            </a:pathLst>
          </a:custGeom>
          <a:solidFill>
            <a:srgbClr val="D2C4B4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bg object 17"/>
          <p:cNvSpPr/>
          <p:nvPr/>
        </p:nvSpPr>
        <p:spPr>
          <a:xfrm>
            <a:off x="160213" y="3708770"/>
            <a:ext cx="13853794" cy="3446779"/>
          </a:xfrm>
          <a:custGeom>
            <a:avLst/>
            <a:gdLst/>
            <a:ahLst/>
            <a:cxnLst/>
            <a:rect l="l" t="t" r="r" b="b"/>
            <a:pathLst>
              <a:path w="13853794" h="3446779">
                <a:moveTo>
                  <a:pt x="13853263" y="3446487"/>
                </a:moveTo>
                <a:lnTo>
                  <a:pt x="0" y="3446487"/>
                </a:lnTo>
                <a:lnTo>
                  <a:pt x="0" y="0"/>
                </a:lnTo>
                <a:lnTo>
                  <a:pt x="13853263" y="0"/>
                </a:lnTo>
                <a:lnTo>
                  <a:pt x="13853263" y="3446487"/>
                </a:lnTo>
                <a:close/>
              </a:path>
            </a:pathLst>
          </a:custGeom>
          <a:solidFill>
            <a:srgbClr val="CF7551"/>
          </a:solidFill>
          <a:ln>
            <a:solidFill>
              <a:srgbClr val="B3B29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bg object 18"/>
          <p:cNvSpPr/>
          <p:nvPr/>
        </p:nvSpPr>
        <p:spPr>
          <a:xfrm>
            <a:off x="173158" y="7524427"/>
            <a:ext cx="13856969" cy="3291204"/>
          </a:xfrm>
          <a:custGeom>
            <a:avLst/>
            <a:gdLst/>
            <a:ahLst/>
            <a:cxnLst/>
            <a:rect l="l" t="t" r="r" b="b"/>
            <a:pathLst>
              <a:path w="13856969" h="3291204">
                <a:moveTo>
                  <a:pt x="13856748" y="3290656"/>
                </a:moveTo>
                <a:lnTo>
                  <a:pt x="0" y="3290656"/>
                </a:lnTo>
                <a:lnTo>
                  <a:pt x="0" y="0"/>
                </a:lnTo>
                <a:lnTo>
                  <a:pt x="13856748" y="0"/>
                </a:lnTo>
                <a:lnTo>
                  <a:pt x="13856748" y="3290656"/>
                </a:lnTo>
                <a:close/>
              </a:path>
            </a:pathLst>
          </a:custGeom>
          <a:solidFill>
            <a:srgbClr val="CF7551"/>
          </a:solidFill>
          <a:ln>
            <a:solidFill>
              <a:srgbClr val="B3B29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37810" y="471771"/>
            <a:ext cx="11767820" cy="9264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900" b="1" i="0">
                <a:solidFill>
                  <a:srgbClr val="E3DEC2"/>
                </a:solidFill>
                <a:latin typeface="Yu Gothic"/>
                <a:cs typeface="Yu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09612" y="4623943"/>
            <a:ext cx="12773025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825365" y="18696814"/>
            <a:ext cx="4541520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09612" y="18696814"/>
            <a:ext cx="3264217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218420" y="18696814"/>
            <a:ext cx="3264217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37810" y="471771"/>
            <a:ext cx="11767820" cy="1368323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10"/>
              </a:spcBef>
            </a:pPr>
            <a:r>
              <a:rPr lang="zh-TW" altLang="en-US" sz="8800" spc="-5" dirty="0">
                <a:solidFill>
                  <a:srgbClr val="333333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深度偽造音訊偵測系統</a:t>
            </a:r>
            <a:endParaRPr sz="8800" spc="-5" dirty="0">
              <a:solidFill>
                <a:srgbClr val="333333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2345" y="1783699"/>
            <a:ext cx="13744575" cy="1165704"/>
          </a:xfrm>
          <a:prstGeom prst="rect">
            <a:avLst/>
          </a:prstGeom>
          <a:solidFill>
            <a:srgbClr val="D2C4B4"/>
          </a:solidFill>
        </p:spPr>
        <p:txBody>
          <a:bodyPr vert="horz" wrap="square" lIns="0" tIns="1397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10"/>
              </a:spcBef>
            </a:pPr>
            <a:r>
              <a:rPr lang="en-US" altLang="zh-TW" sz="4000" spc="-10" dirty="0">
                <a:solidFill>
                  <a:srgbClr val="333333"/>
                </a:solidFill>
                <a:latin typeface="Microsoft JhengHei"/>
              </a:rPr>
              <a:t>Develop a Detection System Of Deepfake Audio</a:t>
            </a:r>
          </a:p>
          <a:p>
            <a:pPr marL="12700" algn="l">
              <a:lnSpc>
                <a:spcPct val="100000"/>
              </a:lnSpc>
              <a:spcBef>
                <a:spcPts val="110"/>
              </a:spcBef>
            </a:pPr>
            <a:r>
              <a:rPr sz="3400" spc="-10" dirty="0" err="1">
                <a:solidFill>
                  <a:srgbClr val="333333"/>
                </a:solidFill>
                <a:latin typeface="Microsoft JhengHei"/>
                <a:cs typeface="Microsoft JhengHei"/>
              </a:rPr>
              <a:t>參與成員</a:t>
            </a:r>
            <a:r>
              <a:rPr sz="3400" spc="-10" dirty="0">
                <a:solidFill>
                  <a:srgbClr val="333333"/>
                </a:solidFill>
                <a:latin typeface="Microsoft JhengHei"/>
                <a:cs typeface="Microsoft JhengHei"/>
              </a:rPr>
              <a:t>：</a:t>
            </a:r>
            <a:r>
              <a:rPr lang="zh-TW" altLang="en-US" sz="3400" spc="-10" dirty="0">
                <a:solidFill>
                  <a:srgbClr val="333333"/>
                </a:solidFill>
                <a:latin typeface="Microsoft JhengHei"/>
                <a:cs typeface="Microsoft JhengHei"/>
              </a:rPr>
              <a:t>徐聖硯、</a:t>
            </a:r>
            <a:r>
              <a:rPr lang="zh-TW" altLang="en-US" sz="3400" spc="-10" dirty="0">
                <a:solidFill>
                  <a:srgbClr val="333333"/>
                </a:solidFill>
                <a:latin typeface="Microsoft JhengHei"/>
              </a:rPr>
              <a:t>張帟淇、郭至峻、郭品佑</a:t>
            </a:r>
            <a:r>
              <a:rPr sz="3400" dirty="0">
                <a:solidFill>
                  <a:srgbClr val="333333"/>
                </a:solidFill>
                <a:latin typeface="Microsoft JhengHei"/>
                <a:cs typeface="Microsoft JhengHei"/>
              </a:rPr>
              <a:t>	</a:t>
            </a:r>
            <a:r>
              <a:rPr lang="en-US" sz="3400" dirty="0">
                <a:solidFill>
                  <a:srgbClr val="333333"/>
                </a:solidFill>
                <a:latin typeface="Microsoft JhengHei"/>
                <a:cs typeface="Microsoft JhengHei"/>
              </a:rPr>
              <a:t>	</a:t>
            </a:r>
            <a:r>
              <a:rPr sz="3400" spc="-10" dirty="0" err="1">
                <a:solidFill>
                  <a:srgbClr val="333333"/>
                </a:solidFill>
                <a:latin typeface="Microsoft JhengHei"/>
                <a:cs typeface="Microsoft JhengHei"/>
              </a:rPr>
              <a:t>指導教授：江季</a:t>
            </a:r>
            <a:r>
              <a:rPr sz="3400" spc="-50" dirty="0" err="1">
                <a:solidFill>
                  <a:srgbClr val="333333"/>
                </a:solidFill>
                <a:latin typeface="Microsoft JhengHei"/>
                <a:cs typeface="Microsoft JhengHei"/>
              </a:rPr>
              <a:t>翰</a:t>
            </a:r>
            <a:endParaRPr sz="3400" dirty="0">
              <a:solidFill>
                <a:srgbClr val="333333"/>
              </a:solidFill>
              <a:latin typeface="Microsoft JhengHei"/>
              <a:cs typeface="Microsoft JhengHe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65991" y="19243558"/>
            <a:ext cx="5634990" cy="5264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3535679" algn="l"/>
              </a:tabLst>
            </a:pPr>
            <a:r>
              <a:rPr sz="3250" dirty="0">
                <a:solidFill>
                  <a:srgbClr val="333333"/>
                </a:solidFill>
                <a:latin typeface="Microsoft JhengHei"/>
                <a:cs typeface="Microsoft JhengHei"/>
              </a:rPr>
              <a:t>國⽴虎尾科技⼤</a:t>
            </a:r>
            <a:r>
              <a:rPr sz="3250" spc="-50" dirty="0">
                <a:solidFill>
                  <a:srgbClr val="333333"/>
                </a:solidFill>
                <a:latin typeface="Microsoft JhengHei"/>
                <a:cs typeface="Microsoft JhengHei"/>
              </a:rPr>
              <a:t>學</a:t>
            </a:r>
            <a:r>
              <a:rPr sz="3250" dirty="0">
                <a:solidFill>
                  <a:srgbClr val="333333"/>
                </a:solidFill>
                <a:latin typeface="Microsoft JhengHei"/>
                <a:cs typeface="Microsoft JhengHei"/>
              </a:rPr>
              <a:t>	資訊⼯程</a:t>
            </a:r>
            <a:r>
              <a:rPr sz="3250" spc="-50" dirty="0">
                <a:solidFill>
                  <a:srgbClr val="333333"/>
                </a:solidFill>
                <a:latin typeface="Microsoft JhengHei"/>
                <a:cs typeface="Microsoft JhengHei"/>
              </a:rPr>
              <a:t>系</a:t>
            </a:r>
            <a:endParaRPr sz="3250" dirty="0">
              <a:solidFill>
                <a:srgbClr val="333333"/>
              </a:solidFill>
              <a:latin typeface="Microsoft JhengHei"/>
              <a:cs typeface="Microsoft JhengHe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5666" y="5111249"/>
            <a:ext cx="1026794" cy="626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950" spc="-50" dirty="0">
                <a:latin typeface="Microsoft JhengHei"/>
                <a:cs typeface="Microsoft JhengHei"/>
              </a:rPr>
              <a:t>動機</a:t>
            </a:r>
            <a:endParaRPr sz="3950">
              <a:latin typeface="Microsoft JhengHei"/>
              <a:cs typeface="Microsoft JhengHe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53425" y="10898753"/>
            <a:ext cx="5736590" cy="93871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0"/>
              </a:spcBef>
            </a:pPr>
            <a:r>
              <a:rPr sz="6000" b="1" spc="-15" dirty="0" err="1">
                <a:solidFill>
                  <a:srgbClr val="333333"/>
                </a:solidFill>
                <a:latin typeface="Microsoft JhengHei"/>
                <a:cs typeface="Microsoft JhengHei"/>
              </a:rPr>
              <a:t>系統架構圖</a:t>
            </a:r>
            <a:endParaRPr sz="6000" b="1" dirty="0">
              <a:solidFill>
                <a:srgbClr val="333333"/>
              </a:solidFill>
              <a:latin typeface="Microsoft JhengHei"/>
              <a:cs typeface="Microsoft JhengHei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66641" y="4629638"/>
            <a:ext cx="131399" cy="1313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66641" y="5117693"/>
            <a:ext cx="131399" cy="1313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66641" y="5605748"/>
            <a:ext cx="131399" cy="13139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66641" y="6093802"/>
            <a:ext cx="131399" cy="131399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2662104" y="4392960"/>
            <a:ext cx="11259185" cy="1990417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>
              <a:lnSpc>
                <a:spcPts val="3840"/>
              </a:lnSpc>
              <a:spcBef>
                <a:spcPts val="640"/>
              </a:spcBef>
            </a:pPr>
            <a:r>
              <a:rPr lang="zh-TW" altLang="zh-TW" sz="2750" spc="-10" dirty="0">
                <a:latin typeface="Microsoft JhengHei"/>
              </a:rPr>
              <a:t>伴隨著人工智慧</a:t>
            </a:r>
            <a:r>
              <a:rPr lang="en-US" altLang="zh-TW" sz="2750" spc="-10" dirty="0">
                <a:latin typeface="Microsoft JhengHei"/>
              </a:rPr>
              <a:t>(Artificial Intelligence)</a:t>
            </a:r>
            <a:r>
              <a:rPr lang="zh-TW" altLang="zh-TW" sz="2750" spc="-10" dirty="0">
                <a:latin typeface="Microsoft JhengHei"/>
              </a:rPr>
              <a:t>技術的快速進步，許多不法份子也開始使用生成式人工智慧</a:t>
            </a:r>
            <a:r>
              <a:rPr lang="en-US" altLang="zh-TW" sz="2750" spc="-10" dirty="0">
                <a:latin typeface="Microsoft JhengHei"/>
              </a:rPr>
              <a:t>(Generative Artificial Intelligence)</a:t>
            </a:r>
            <a:r>
              <a:rPr lang="zh-TW" altLang="zh-TW" sz="2750" spc="-10" dirty="0">
                <a:latin typeface="Microsoft JhengHei"/>
              </a:rPr>
              <a:t>合成語音來模仿受害者家人、朋友或銀行客服，並隨著逼真程度越來越高，令受害者難以快速分辨而因此受騙。</a:t>
            </a:r>
            <a:endParaRPr sz="2750" spc="-10" dirty="0">
              <a:latin typeface="Microsoft JhengHe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05666" y="8869229"/>
            <a:ext cx="1026794" cy="626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950" spc="-50" dirty="0">
                <a:latin typeface="Microsoft JhengHei"/>
                <a:cs typeface="Microsoft JhengHei"/>
              </a:rPr>
              <a:t>⽬的</a:t>
            </a:r>
            <a:endParaRPr sz="3950">
              <a:latin typeface="Microsoft JhengHei"/>
              <a:cs typeface="Microsoft JhengHe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193482" y="8484249"/>
            <a:ext cx="131399" cy="13139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193482" y="8972304"/>
            <a:ext cx="131399" cy="131399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2488945" y="8247570"/>
            <a:ext cx="11428095" cy="2067361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>
              <a:lnSpc>
                <a:spcPts val="3840"/>
              </a:lnSpc>
              <a:spcBef>
                <a:spcPts val="640"/>
              </a:spcBef>
            </a:pPr>
            <a:r>
              <a:rPr lang="zh-TW" altLang="zh-TW" sz="2750" dirty="0"/>
              <a:t>我們希望建立一套能辨識人工智慧生成語音的輔助工具，讓使用者可以選取欲分析之音檔，上傳到雲端模型分析是否為偽造語音，並透過結合行動裝置應用程式回傳與顯示分析結果，因此降低使用者因此受騙的風險。</a:t>
            </a:r>
            <a:endParaRPr lang="en-US" altLang="zh-TW" sz="2750" dirty="0"/>
          </a:p>
          <a:p>
            <a:pPr marL="12700">
              <a:lnSpc>
                <a:spcPts val="3840"/>
              </a:lnSpc>
              <a:spcBef>
                <a:spcPts val="640"/>
              </a:spcBef>
            </a:pPr>
            <a:r>
              <a:rPr lang="zh-TW" altLang="en-US" sz="2800" dirty="0"/>
              <a:t>完整檢測事件紀錄結構</a:t>
            </a:r>
            <a:r>
              <a:rPr lang="en-US" altLang="zh-TW" sz="2800" dirty="0"/>
              <a:t>: (</a:t>
            </a:r>
            <a:r>
              <a:rPr lang="zh-TW" altLang="en-US" sz="2800" dirty="0"/>
              <a:t>日期、時間、判定結果</a:t>
            </a:r>
            <a:r>
              <a:rPr lang="en-US" altLang="zh-TW" sz="2800" dirty="0"/>
              <a:t>(real or fake))</a:t>
            </a:r>
            <a:endParaRPr sz="2750" dirty="0">
              <a:latin typeface="Microsoft JhengHei"/>
              <a:cs typeface="Microsoft JhengHei"/>
            </a:endParaRPr>
          </a:p>
        </p:txBody>
      </p:sp>
      <p:pic>
        <p:nvPicPr>
          <p:cNvPr id="16" name="object 14">
            <a:extLst>
              <a:ext uri="{FF2B5EF4-FFF2-40B4-BE49-F238E27FC236}">
                <a16:creationId xmlns:a16="http://schemas.microsoft.com/office/drawing/2014/main" id="{EB6258EB-3E49-2DEA-AA7D-CCD68AB639E6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193482" y="9429639"/>
            <a:ext cx="131399" cy="131399"/>
          </a:xfrm>
          <a:prstGeom prst="rect">
            <a:avLst/>
          </a:prstGeom>
        </p:spPr>
      </p:pic>
      <p:pic>
        <p:nvPicPr>
          <p:cNvPr id="26" name="object 14">
            <a:extLst>
              <a:ext uri="{FF2B5EF4-FFF2-40B4-BE49-F238E27FC236}">
                <a16:creationId xmlns:a16="http://schemas.microsoft.com/office/drawing/2014/main" id="{D5F6F164-AFCB-6942-7779-2AAC0A33BAD9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193481" y="9986350"/>
            <a:ext cx="131399" cy="131399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1242CEE8-D159-4D9D-A55F-27AFA5EC470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59180" y="11862647"/>
            <a:ext cx="9635127" cy="7223630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FF54D797-D706-14FE-8AD0-9F61843AB48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01" t="8624" r="8713" b="8227"/>
          <a:stretch>
            <a:fillRect/>
          </a:stretch>
        </p:blipFill>
        <p:spPr>
          <a:xfrm>
            <a:off x="905666" y="17699642"/>
            <a:ext cx="1378914" cy="13866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黃色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141</TotalTime>
  <Words>177</Words>
  <Application>Microsoft Office PowerPoint</Application>
  <PresentationFormat>自訂</PresentationFormat>
  <Paragraphs>11</Paragraphs>
  <Slides>1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Yu Gothic</vt:lpstr>
      <vt:lpstr>Microsoft JhengHei</vt:lpstr>
      <vt:lpstr>Calibri</vt:lpstr>
      <vt:lpstr>Office Theme</vt:lpstr>
      <vt:lpstr>深度偽造音訊偵測系統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專題海報 (60 x 85 公分)</dc:title>
  <dc:creator>劉章佑</dc:creator>
  <cp:keywords>DAGDGtRV08Q,BAGDGMNibxo</cp:keywords>
  <cp:lastModifiedBy>帟淇 張</cp:lastModifiedBy>
  <cp:revision>5</cp:revision>
  <dcterms:created xsi:type="dcterms:W3CDTF">2026-05-26T07:13:16Z</dcterms:created>
  <dcterms:modified xsi:type="dcterms:W3CDTF">2026-05-27T09:02:19Z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2024-06-10T00:00:00Z</vt:filetime>
  </property>
  <property fmtid="{D5CDD505-2E9C-101B-9397-08002B2CF9AE}" pid="3" name="Creator">
    <vt:lpwstr>Canva</vt:lpwstr>
  </property>
  <property fmtid="{D5CDD505-2E9C-101B-9397-08002B2CF9AE}" pid="4" name="LastSaved">
    <vt:filetime>2026-05-26T00:00:00Z</vt:filetime>
  </property>
  <property fmtid="{D5CDD505-2E9C-101B-9397-08002B2CF9AE}" pid="5" name="Producer">
    <vt:lpwstr>Canva</vt:lpwstr>
  </property>
</Properties>
</file>